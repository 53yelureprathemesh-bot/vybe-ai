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spcAft>
                <a:spcPts val="600"/>
              </a:spcAft>
              <a:defRPr sz="1200" b="1">
                <a:solidFill>
                  <a:srgbClr val="0D9488"/>
                </a:solidFill>
              </a:defRPr>
            </a:pPr>
            <a:r>
              <a:t>HACKATHON SUBMISSION | TRACK 1: AGENTIC AI SOLUTIONS</a:t>
            </a:r>
          </a:p>
          <a:p>
            <a:pPr>
              <a:spcAft>
                <a:spcPts val="800"/>
              </a:spcAft>
              <a:defRPr sz="3200" b="1">
                <a:solidFill>
                  <a:srgbClr val="14213D"/>
                </a:solidFill>
              </a:defRPr>
            </a:pPr>
            <a:r>
              <a:t>VYBE AI — Workplace Wellness Agent</a:t>
            </a:r>
          </a:p>
          <a:p>
            <a:pPr>
              <a:spcAft>
                <a:spcPts val="1200"/>
              </a:spcAft>
              <a:defRPr sz="1600" i="1">
                <a:solidFill>
                  <a:srgbClr val="475569"/>
                </a:solidFill>
              </a:defRPr>
            </a:pPr>
            <a:r>
              <a:t>"Your Work. Your Wellness. Your Rhythm."</a:t>
            </a:r>
          </a:p>
          <a:p>
            <a:pPr>
              <a:defRPr sz="1200">
                <a:solidFill>
                  <a:srgbClr val="14213D"/>
                </a:solidFill>
              </a:defRPr>
            </a:pPr>
            <a:r>
              <a:t>An autonomous, privacy-first workplace wellness companion designed for software engineers and desk professionals to intelligently combat digital eye strain, posture fatigue, and cognitive burnout via science-backed micro-rhythm interventions.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931920"/>
            <a:ext cx="521208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02. Participant Details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Participant Name: </a:t>
            </a:r>
            <a:r>
              <a:rPr sz="1100">
                <a:solidFill>
                  <a:srgbClr val="475569"/>
                </a:solidFill>
              </a:rPr>
              <a:t>Prajakta Yelure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Email ID: </a:t>
            </a:r>
            <a:r>
              <a:rPr sz="1100">
                <a:solidFill>
                  <a:srgbClr val="475569"/>
                </a:solidFill>
              </a:rPr>
              <a:t>53yelureprathemesh@gmail.com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Project Name: </a:t>
            </a:r>
            <a:r>
              <a:rPr sz="1100">
                <a:solidFill>
                  <a:srgbClr val="475569"/>
                </a:solidFill>
              </a:rPr>
              <a:t>VYBE AI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Team Members: </a:t>
            </a:r>
            <a:r>
              <a:rPr sz="1100">
                <a:solidFill>
                  <a:srgbClr val="475569"/>
                </a:solidFill>
              </a:rPr>
              <a:t>Prajakta Yelure (Solo Developer &amp; Architect)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Track: </a:t>
            </a:r>
            <a:r>
              <a:rPr sz="1100">
                <a:solidFill>
                  <a:srgbClr val="475569"/>
                </a:solidFill>
              </a:rPr>
              <a:t>Track 1: Agentic AI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931920"/>
            <a:ext cx="5242255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02. Agent &amp; Deployment Details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Agent Name: </a:t>
            </a:r>
            <a:r>
              <a:rPr sz="1100">
                <a:solidFill>
                  <a:srgbClr val="475569"/>
                </a:solidFill>
              </a:rPr>
              <a:t>VybeAI_WorkplaceWellnessAgent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Agent Type: </a:t>
            </a:r>
            <a:r>
              <a:rPr sz="1100">
                <a:solidFill>
                  <a:srgbClr val="475569"/>
                </a:solidFill>
              </a:rPr>
              <a:t>Autonomous Rhythmic Health &amp; Focus Companion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Target Users: </a:t>
            </a:r>
            <a:r>
              <a:rPr sz="1100">
                <a:solidFill>
                  <a:srgbClr val="475569"/>
                </a:solidFill>
              </a:rPr>
              <a:t>Developers, IT Engineers, Knowledge Workers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Live Website: </a:t>
            </a:r>
            <a:r>
              <a:rPr sz="1100">
                <a:solidFill>
                  <a:srgbClr val="475569"/>
                </a:solidFill>
              </a:rPr>
              <a:t>https://vybe-ai-five.vercel.app/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Source Code: </a:t>
            </a:r>
            <a:r>
              <a:rPr sz="1100">
                <a:solidFill>
                  <a:srgbClr val="475569"/>
                </a:solidFill>
              </a:rPr>
              <a:t>https://github.com/53yelureprathemesh-bot/Vybe-AI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DD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13D"/>
                </a:solidFill>
              </a:defRPr>
            </a:pPr>
            <a:r>
              <a:t>Problem Statement: The Sedentary Computer Epidemic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Understanding the physiological and cognitive toll on IT professionals and desk workers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1. The Business Problem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Prolonged Screen Staring: </a:t>
            </a:r>
            <a:r>
              <a:rPr sz="1100">
                <a:solidFill>
                  <a:srgbClr val="475569"/>
                </a:solidFill>
              </a:rPr>
              <a:t>IT workers average 8-11 hours/day of unbroken visual monitor exposure without optical release.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Physical Immobilization: </a:t>
            </a:r>
            <a:r>
              <a:rPr sz="1100">
                <a:solidFill>
                  <a:srgbClr val="475569"/>
                </a:solidFill>
              </a:rPr>
              <a:t>Continuous seated static postures without biomechanical decompression cause spinal compression and tendon strain.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Cognitive Tunneling: </a:t>
            </a:r>
            <a:r>
              <a:rPr sz="1100">
                <a:solidFill>
                  <a:srgbClr val="475569"/>
                </a:solidFill>
              </a:rPr>
              <a:t>Long debugging runs trigger high sympathetic nervous arousal ('fight-or-flight'), causing severe afternoon brain fog.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Silent Accumulation: </a:t>
            </a:r>
            <a:r>
              <a:rPr sz="1100">
                <a:solidFill>
                  <a:srgbClr val="475569"/>
                </a:solidFill>
              </a:rPr>
              <a:t>Fatigue accumulates unnoticed until it manifests as chronic pain, migraines, or mental burnout.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2. Who It Affects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Software Engineers: </a:t>
            </a:r>
            <a:r>
              <a:rPr sz="1100">
                <a:solidFill>
                  <a:srgbClr val="475569"/>
                </a:solidFill>
              </a:rPr>
              <a:t>Deep focus marathon coders suffering from repetitive wrist strain (RSI) and neck knots.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IT &amp; DevOps Professionals: </a:t>
            </a:r>
            <a:r>
              <a:rPr sz="1100">
                <a:solidFill>
                  <a:srgbClr val="475569"/>
                </a:solidFill>
              </a:rPr>
              <a:t>On-call engineers subject to persistent adrenaline spikes and high cognitive load.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Remote &amp; Hybrid Workers: </a:t>
            </a:r>
            <a:r>
              <a:rPr sz="1100">
                <a:solidFill>
                  <a:srgbClr val="475569"/>
                </a:solidFill>
              </a:rPr>
              <a:t>Home desk workers lacking natural office walking cues and water-cooler transitions.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Corporate Knowledge Teams: </a:t>
            </a:r>
            <a:r>
              <a:rPr sz="1100">
                <a:solidFill>
                  <a:srgbClr val="475569"/>
                </a:solidFill>
              </a:rPr>
              <a:t>Desk employees reporting lower energy, afternoon fatigue, and elevated absenteeism.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413455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3. Why It Matters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Computer Vision Syndrome: </a:t>
            </a:r>
            <a:r>
              <a:rPr sz="1100">
                <a:solidFill>
                  <a:srgbClr val="475569"/>
                </a:solidFill>
              </a:rPr>
              <a:t>Affects over 70% of computer workers, dropping reading speed and causing frequent headaches.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₹4.15 Lakh Cr ($50B+) Cost: </a:t>
            </a:r>
            <a:r>
              <a:rPr sz="1100">
                <a:solidFill>
                  <a:srgbClr val="475569"/>
                </a:solidFill>
              </a:rPr>
              <a:t>Musculoskeletal disorders account for over ₹4.15 Lakh Crore in direct corporate healthcare and compensation claims.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30% Productivity Loss: </a:t>
            </a:r>
            <a:r>
              <a:rPr sz="1100">
                <a:solidFill>
                  <a:srgbClr val="475569"/>
                </a:solidFill>
              </a:rPr>
              <a:t>Fatigued developers commit 35% more syntax bugs and regressions during late afternoon hours.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Attrition &amp; Burnout: </a:t>
            </a:r>
            <a:r>
              <a:rPr sz="1100">
                <a:solidFill>
                  <a:srgbClr val="475569"/>
                </a:solidFill>
              </a:rPr>
              <a:t>Chronic workplace exhaustion is among the top 3 drivers of technical talent turnover.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DD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13D"/>
                </a:solidFill>
              </a:defRPr>
            </a:pPr>
            <a:r>
              <a:t>Agentic AI Solution: Autonomous Rhythm Management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How VYBE AI autonomously reasons, plans, acts, and continuously learns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96596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14213D"/>
                </a:solidFill>
              </a:defRPr>
            </a:pPr>
            <a:r>
              <a:t>1. OBSERVE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Tracks screen focus duration via unthrottled background Web Workers and OS input presence without invasive surveillance.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737360"/>
            <a:ext cx="196596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14213D"/>
                </a:solidFill>
              </a:defRPr>
            </a:pPr>
            <a:r>
              <a:t>2. ANALYSE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Multi-factor cognitive &amp; biomechanical fatigue scoring (optical load, cervical tension, hydration deficit).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737360"/>
            <a:ext cx="196596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14213D"/>
                </a:solidFill>
              </a:defRPr>
            </a:pPr>
            <a:r>
              <a:t>3. DECIDE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Constraint-aware engine selects optimal micro-break respecting time windows, quiet hours, and personal history.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737360"/>
            <a:ext cx="196596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14213D"/>
                </a:solidFill>
              </a:defRPr>
            </a:pPr>
            <a:r>
              <a:t>4. ACT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Delivers native OS toast notifications, harmonic Web Audio chimes, and interactive step-by-step guidance.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737360"/>
            <a:ext cx="196596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14213D"/>
                </a:solidFill>
              </a:defRPr>
            </a:pPr>
            <a:r>
              <a:t>5. LEARN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Reinforces user preference weights (+1.5 helpful / -2.0 unhelpful) to refine future intervention precision.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DD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13D"/>
                </a:solidFill>
              </a:defRPr>
            </a:pPr>
            <a:r>
              <a:t>Technology Stack &amp; Architectural Components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Built with modern, open-source, high-efficiency tools and edge serverless runtimes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AI &amp; Reasoning Layer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Gemini 1.5 Flash: </a:t>
            </a:r>
            <a:r>
              <a:rPr sz="1100">
                <a:solidFill>
                  <a:srgbClr val="475569"/>
                </a:solidFill>
              </a:rPr>
              <a:t>LLM integration with strict structured JSON schema validation for conversational advice.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Edge NLP Engine: </a:t>
            </a:r>
            <a:r>
              <a:rPr sz="1100">
                <a:solidFill>
                  <a:srgbClr val="475569"/>
                </a:solidFill>
              </a:rPr>
              <a:t>Zero-latency client-side symptom parser and sentiment analyzer running 100% offline.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5-Stage Decision Engine: </a:t>
            </a:r>
            <a:r>
              <a:rPr sz="1100">
                <a:solidFill>
                  <a:srgbClr val="475569"/>
                </a:solidFill>
              </a:rPr>
              <a:t>Multi-factor scoring algorithm balancing fatigue, duration, and feedback weights.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42255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Frontend Architecture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React 18 + Vite: </a:t>
            </a:r>
            <a:r>
              <a:rPr sz="1100">
                <a:solidFill>
                  <a:srgbClr val="475569"/>
                </a:solidFill>
              </a:rPr>
              <a:t>High-performance reactive SPA with instant client-side transitions and HMR.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TypeScript: </a:t>
            </a:r>
            <a:r>
              <a:rPr sz="1100">
                <a:solidFill>
                  <a:srgbClr val="475569"/>
                </a:solidFill>
              </a:rPr>
              <a:t>Strict type safety for activity libraries, user models, and session states.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Tailwind CSS: </a:t>
            </a:r>
            <a:r>
              <a:rPr sz="1100">
                <a:solidFill>
                  <a:srgbClr val="475569"/>
                </a:solidFill>
              </a:rPr>
              <a:t>Ergonomic wellness design system (Deep Navy, Soft Mint, Calming Teal).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Recharts Visuals: </a:t>
            </a:r>
            <a:r>
              <a:rPr sz="1100">
                <a:solidFill>
                  <a:srgbClr val="475569"/>
                </a:solidFill>
              </a:rPr>
              <a:t>Dynamic SVG analytics, interactive trends, and completion donut charts.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Desktop &amp; Audio Engine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Web Workers: </a:t>
            </a:r>
            <a:r>
              <a:rPr sz="1100">
                <a:solidFill>
                  <a:srgbClr val="475569"/>
                </a:solidFill>
              </a:rPr>
              <a:t>Isolated background thread ensuring timers never freeze when browser is minimized.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Web Audio API: </a:t>
            </a:r>
            <a:r>
              <a:rPr sz="1100">
                <a:solidFill>
                  <a:srgbClr val="475569"/>
                </a:solidFill>
              </a:rPr>
              <a:t>Real-time synthesis of harmonic wellness bell frequencies (528 Hz, 432 Hz, Zen Gong).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Windows WinRT / ctypes: </a:t>
            </a:r>
            <a:r>
              <a:rPr sz="1100">
                <a:solidFill>
                  <a:srgbClr val="475569"/>
                </a:solidFill>
              </a:rPr>
              <a:t>System-level background daemon displaying native Windows toast notifications.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242255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Cloud, DB &amp; Deployment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FastAPI + Python 3.10: </a:t>
            </a:r>
            <a:r>
              <a:rPr sz="1100">
                <a:solidFill>
                  <a:srgbClr val="475569"/>
                </a:solidFill>
              </a:rPr>
              <a:t>Asynchronous backend API serving endpoints for check-ins, history, and planners.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SQLite with WAL Mode: </a:t>
            </a:r>
            <a:r>
              <a:rPr sz="1100">
                <a:solidFill>
                  <a:srgbClr val="475569"/>
                </a:solidFill>
              </a:rPr>
              <a:t>ACID compliant, zero-configuration local database with isolated user schemas.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Vercel Edge Cloud: </a:t>
            </a:r>
            <a:r>
              <a:rPr sz="1100">
                <a:solidFill>
                  <a:srgbClr val="475569"/>
                </a:solidFill>
              </a:rPr>
              <a:t>Global serverless CDN hosting live web deployment with automated GitHub CI/CD.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DD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13D"/>
                </a:solidFill>
              </a:defRPr>
            </a:pPr>
            <a:r>
              <a:t>Detailed Benefits: Tangible Value for Desk Workers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Eliminating friction while delivering measurable improvements in well-being and focus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14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1. Time Saved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2-3 Hours/Week: </a:t>
            </a:r>
            <a:r>
              <a:rPr sz="1100">
                <a:solidFill>
                  <a:srgbClr val="475569"/>
                </a:solidFill>
              </a:rPr>
              <a:t>Recovers wasted downtime caused by afternoon fatigue and eye irritation.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Instant Micro-Resets: </a:t>
            </a:r>
            <a:r>
              <a:rPr sz="1100">
                <a:solidFill>
                  <a:srgbClr val="475569"/>
                </a:solidFill>
              </a:rPr>
              <a:t>Activities range from 20 seconds to 2 minutes—never derailing workday momentum.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Zero Setup Overhead: </a:t>
            </a:r>
            <a:r>
              <a:rPr sz="1100">
                <a:solidFill>
                  <a:srgbClr val="475569"/>
                </a:solidFill>
              </a:rPr>
              <a:t>Runs instantly in any browser without mandatory complex corporate installs.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737360"/>
            <a:ext cx="2514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2. Quality Gains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35% Error Reduction: </a:t>
            </a:r>
            <a:r>
              <a:rPr sz="1100">
                <a:solidFill>
                  <a:srgbClr val="475569"/>
                </a:solidFill>
              </a:rPr>
              <a:t>Prevents fatigue-induced syntax and logic bugs during end-of-day coding marathons.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Visual Acuity: </a:t>
            </a:r>
            <a:r>
              <a:rPr sz="1100">
                <a:solidFill>
                  <a:srgbClr val="475569"/>
                </a:solidFill>
              </a:rPr>
              <a:t>20-20-20 protocol relaxes ciliary muscles, keeping code readability crisp.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Postural Alignment: </a:t>
            </a:r>
            <a:r>
              <a:rPr sz="1100">
                <a:solidFill>
                  <a:srgbClr val="475569"/>
                </a:solidFill>
              </a:rPr>
              <a:t>Relieves spinal and shoulder knotting before it converts into chronic pain.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2514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3. Effort Reduction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Zero Manual Logging: </a:t>
            </a:r>
            <a:r>
              <a:rPr sz="1100">
                <a:solidFill>
                  <a:srgbClr val="475569"/>
                </a:solidFill>
              </a:rPr>
              <a:t>Screen time is tracked automatically in the background without user intervention.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1-Click Launchers: </a:t>
            </a:r>
            <a:r>
              <a:rPr sz="1100">
                <a:solidFill>
                  <a:srgbClr val="475569"/>
                </a:solidFill>
              </a:rPr>
              <a:t>Directly starts guided timers and chime sounds from notifications and chat.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Auto-Muting: </a:t>
            </a:r>
            <a:r>
              <a:rPr sz="1100">
                <a:solidFill>
                  <a:srgbClr val="475569"/>
                </a:solidFill>
              </a:rPr>
              <a:t>Intelligently suppresses interruptions during lunch breaks and quiet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737360"/>
            <a:ext cx="2499055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4. User Experience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Zero Surveillance: </a:t>
            </a:r>
            <a:r>
              <a:rPr sz="1100">
                <a:solidFill>
                  <a:srgbClr val="475569"/>
                </a:solidFill>
              </a:rPr>
              <a:t>100% voluntary participation—builds authentic trust with developers.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Custom Audio Chimes: </a:t>
            </a:r>
            <a:r>
              <a:rPr sz="1100">
                <a:solidFill>
                  <a:srgbClr val="475569"/>
                </a:solidFill>
              </a:rPr>
              <a:t>Soothing Tibetan bowls and gentle bell synthesizer rather than harsh alarms.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Empathetic Chat: </a:t>
            </a:r>
            <a:r>
              <a:rPr sz="1100">
                <a:solidFill>
                  <a:srgbClr val="475569"/>
                </a:solidFill>
              </a:rPr>
              <a:t>Talk to VYBE chatbot listens to symptoms and personalizes recommendations.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DD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13D"/>
                </a:solidFill>
              </a:defRPr>
            </a:pPr>
            <a:r>
              <a:t>Business Impact: Quantified Organizational Returns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Transforming developer well-being into measurable corporate KPIs and cost avoidance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14213D"/>
                </a:solidFill>
              </a:defRPr>
            </a:pPr>
            <a:r>
              <a:t>📈 Sustained Daily Productivity</a:t>
            </a:r>
          </a:p>
          <a:p>
            <a:pPr>
              <a:spcAft>
                <a:spcPts val="600"/>
              </a:spcAft>
              <a:defRPr sz="2000" b="1">
                <a:solidFill>
                  <a:srgbClr val="0D9488"/>
                </a:solidFill>
              </a:defRPr>
            </a:pPr>
            <a:r>
              <a:t>+12% Output Gain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Eliminates the standard 3:00 PM cognitive slump through timed micro-oxygenation and optical resets, sustaining peak problem-solving stamina across 8-hour shifts.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14213D"/>
                </a:solidFill>
              </a:defRPr>
            </a:pPr>
            <a:r>
              <a:t>🩺 Healthcare Cost Avoidance</a:t>
            </a:r>
          </a:p>
          <a:p>
            <a:pPr>
              <a:spcAft>
                <a:spcPts val="600"/>
              </a:spcAft>
              <a:defRPr sz="2000" b="1">
                <a:solidFill>
                  <a:srgbClr val="0D9488"/>
                </a:solidFill>
              </a:defRPr>
            </a:pPr>
            <a:r>
              <a:t>₹1,50,000 Saved / Employee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Significantly lowers musculoskeletal disorder (MSD) insurance claims, ergonomic physical therapy costs, and repetitive strain injury (RSI) compensations annually.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14213D"/>
                </a:solidFill>
              </a:defRPr>
            </a:pPr>
            <a:r>
              <a:t>🛡️ Reduced Voluntary Turnover</a:t>
            </a:r>
          </a:p>
          <a:p>
            <a:pPr>
              <a:spcAft>
                <a:spcPts val="600"/>
              </a:spcAft>
              <a:defRPr sz="2000" b="1">
                <a:solidFill>
                  <a:srgbClr val="0D9488"/>
                </a:solidFill>
              </a:defRPr>
            </a:pPr>
            <a:r>
              <a:t>-18% Burnout Attrition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Decreases technical developer churn caused by relentless sprints. Retaining a single senior software engineer saves ₹40,00,000+ ($50k) in recruitment costs.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14213D"/>
                </a:solidFill>
              </a:defRPr>
            </a:pPr>
            <a:r>
              <a:t>⚡ User Participation &amp; Trust</a:t>
            </a:r>
          </a:p>
          <a:p>
            <a:pPr>
              <a:spcAft>
                <a:spcPts val="600"/>
              </a:spcAft>
              <a:defRPr sz="2000" b="1">
                <a:solidFill>
                  <a:srgbClr val="0D9488"/>
                </a:solidFill>
              </a:defRPr>
            </a:pPr>
            <a:r>
              <a:t>&gt;85% Break Acceptance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Because VYBE enforces a strict zero-surveillance policy, employees actually embrace and use it daily, unlike mandatory corporate surveillance tools.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DD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13D"/>
                </a:solidFill>
              </a:defRPr>
            </a:pPr>
            <a:r>
              <a:t>Solution Architecture &amp; Data Flow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Decoupled multi-tier agentic architecture with edge resiliency and zero-latency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CLIENT / PRESENTATION TIER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React 18 SPA (Vite): </a:t>
            </a:r>
            <a:r>
              <a:rPr sz="1100">
                <a:solidFill>
                  <a:srgbClr val="475569"/>
                </a:solidFill>
              </a:rPr>
              <a:t>Houses Dashboard, Activity Player, Journey Analytics, and Smart Planner.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Unthrottled Web Worker: </a:t>
            </a:r>
            <a:r>
              <a:rPr sz="1100">
                <a:solidFill>
                  <a:srgbClr val="475569"/>
                </a:solidFill>
              </a:rPr>
              <a:t>Executes timer ticks in background browser thread without throttle.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Web Audio Synthesizer: </a:t>
            </a:r>
            <a:r>
              <a:rPr sz="1100">
                <a:solidFill>
                  <a:srgbClr val="475569"/>
                </a:solidFill>
              </a:rPr>
              <a:t>Generates harmonic chime bell tones locally without external audio files.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Windows Desktop Agent: </a:t>
            </a:r>
            <a:r>
              <a:rPr sz="1100">
                <a:solidFill>
                  <a:srgbClr val="475569"/>
                </a:solidFill>
              </a:rPr>
              <a:t>Background Python daemon monitoring system input via Windows Win32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AGENTIC INTELLIGENCE TIER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5-Stage Loop Engine: </a:t>
            </a:r>
            <a:r>
              <a:rPr sz="1100">
                <a:solidFill>
                  <a:srgbClr val="475569"/>
                </a:solidFill>
              </a:rPr>
              <a:t>Orchestrates Observe -&gt; Analyse -&gt; Decide -&gt; Act -&gt; Learn lifecycle.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Multi-Turn Chat Analyzer: </a:t>
            </a:r>
            <a:r>
              <a:rPr sz="1100">
                <a:solidFill>
                  <a:srgbClr val="475569"/>
                </a:solidFill>
              </a:rPr>
              <a:t>Reads user prompts, extracts physical symptoms, and understands context.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Gemini 1.5 Flash LLM: </a:t>
            </a:r>
            <a:r>
              <a:rPr sz="1100">
                <a:solidFill>
                  <a:srgbClr val="475569"/>
                </a:solidFill>
              </a:rPr>
              <a:t>Structured schema-validated generation for open-ended wellness dialogue.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Deterministic Fallback: </a:t>
            </a:r>
            <a:r>
              <a:rPr sz="1100">
                <a:solidFill>
                  <a:srgbClr val="475569"/>
                </a:solidFill>
              </a:rPr>
              <a:t>High-speed offline rule engine ensuring 100% availability on CDN edge.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413455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DATA &amp; INFRASTRUCTURE TIER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FastAPI Python Backend: </a:t>
            </a:r>
            <a:r>
              <a:rPr sz="1100">
                <a:solidFill>
                  <a:srgbClr val="475569"/>
                </a:solidFill>
              </a:rPr>
              <a:t>High-throughput asynchronous REST server with Pydantic validation.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SQLite (WAL Mode): </a:t>
            </a:r>
            <a:r>
              <a:rPr sz="1100">
                <a:solidFill>
                  <a:srgbClr val="475569"/>
                </a:solidFill>
              </a:rPr>
              <a:t>Persistent local storage for user credentials, activity history, and feedback.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Vercel Edge Cloud: </a:t>
            </a:r>
            <a:r>
              <a:rPr sz="1100">
                <a:solidFill>
                  <a:srgbClr val="475569"/>
                </a:solidFill>
              </a:rPr>
              <a:t>Global serverless deployment with automated GitHub continuous integration.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Local Storage Cache: </a:t>
            </a:r>
            <a:r>
              <a:rPr sz="1100">
                <a:solidFill>
                  <a:srgbClr val="475569"/>
                </a:solidFill>
              </a:rPr>
              <a:t>Zero-latency client persistence for seamless offline user experience.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DD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13D"/>
                </a:solidFill>
              </a:defRPr>
            </a:pPr>
            <a:r>
              <a:t>Solution Cost: Approximate Build &amp; Operational Economics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Extreme cost efficiency powered by serverless edge compute and lightweight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Estimated Build Cost (One-Time)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Architecture &amp; UX Design: </a:t>
            </a:r>
            <a:r>
              <a:rPr sz="1100">
                <a:solidFill>
                  <a:srgbClr val="475569"/>
                </a:solidFill>
              </a:rPr>
              <a:t>₹1,25,000 – ₹2,00,000: Ergonomic activity library creation, wireframes, and branding.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Frontend &amp; Audio Engineering: </a:t>
            </a:r>
            <a:r>
              <a:rPr sz="1100">
                <a:solidFill>
                  <a:srgbClr val="475569"/>
                </a:solidFill>
              </a:rPr>
              <a:t>₹2,00,000 – ₹3,00,000: React 18, Web Workers, Web Audio synthesizer, and Recharts.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Agentic Engine &amp; API Backend: </a:t>
            </a:r>
            <a:r>
              <a:rPr sz="1100">
                <a:solidFill>
                  <a:srgbClr val="475569"/>
                </a:solidFill>
              </a:rPr>
              <a:t>₹1,65,000 – ₹2,50,000: FastAPI, SQLite, Gemini structured schema, and Windows daemon.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Testing &amp; Quality Assurance: </a:t>
            </a:r>
            <a:r>
              <a:rPr sz="1100">
                <a:solidFill>
                  <a:srgbClr val="475569"/>
                </a:solidFill>
              </a:rPr>
              <a:t>₹80,000 – ₹1,25,000: Automated test suite (27 unit/integration tests) and deployment.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Total Estimated Build Cost: </a:t>
            </a:r>
            <a:r>
              <a:rPr sz="1100">
                <a:solidFill>
                  <a:srgbClr val="475569"/>
                </a:solidFill>
              </a:rPr>
              <a:t>₹5,80,000 – ₹8,75,000 (~₹6 – ₹8.5 Lakhs in a 3-week agile engineering sprint).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42255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Estimated Monthly Run Cost (1,000 Users)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Cloud Hosting (Vercel Pro): </a:t>
            </a:r>
            <a:r>
              <a:rPr sz="1100">
                <a:solidFill>
                  <a:srgbClr val="475569"/>
                </a:solidFill>
              </a:rPr>
              <a:t>₹1,650 / month ($20/mo): Unlimited bandwidth, global edge distribution &amp; CI/CD.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Database Storage (SQLite / Edge DB): </a:t>
            </a:r>
            <a:r>
              <a:rPr sz="1100">
                <a:solidFill>
                  <a:srgbClr val="475569"/>
                </a:solidFill>
              </a:rPr>
              <a:t>₹0 – ₹1,200 / month: Lightweight embedded storage with negligible I/O costs.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LLM Inference (Gemini Flash): </a:t>
            </a:r>
            <a:r>
              <a:rPr sz="1100">
                <a:solidFill>
                  <a:srgbClr val="475569"/>
                </a:solidFill>
              </a:rPr>
              <a:t>₹800 – ₹2,000 / month: Edge fallback resolves 85% of queries locally at ₹0 cost.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Maintenance &amp; Security Patches: </a:t>
            </a:r>
            <a:r>
              <a:rPr sz="1100">
                <a:solidFill>
                  <a:srgbClr val="475569"/>
                </a:solidFill>
              </a:rPr>
              <a:t>₹8,000 / month: Routine updates, monitoring, and dependency audits.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Total Monthly Run Cost: </a:t>
            </a:r>
            <a:r>
              <a:rPr sz="1100">
                <a:solidFill>
                  <a:srgbClr val="475569"/>
                </a:solidFill>
              </a:rPr>
              <a:t>~₹12,500 / month across 1,000 active employees (&lt;₹12.50 / employee / month!).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DD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13D"/>
                </a:solidFill>
              </a:defRPr>
            </a:pPr>
            <a:r>
              <a:t>Resource Requirements &amp; Team Capabilities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Lean, agile team structure required to build, deploy, and maintain VYBE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Full-Stack Web Engineer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Primary Responsibility: </a:t>
            </a:r>
            <a:r>
              <a:rPr sz="1100">
                <a:solidFill>
                  <a:srgbClr val="475569"/>
                </a:solidFill>
              </a:rPr>
              <a:t>Lead React 18 frontend, state management, Vite build, and Vercel edge deployment.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Key Skills Required: </a:t>
            </a:r>
            <a:r>
              <a:rPr sz="1100">
                <a:solidFill>
                  <a:srgbClr val="475569"/>
                </a:solidFill>
              </a:rPr>
              <a:t>TypeScript, React hooks, Tailwind CSS, Web Audio API, Web Workers, Recharts.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Effort Allocation: </a:t>
            </a:r>
            <a:r>
              <a:rPr sz="1100">
                <a:solidFill>
                  <a:srgbClr val="475569"/>
                </a:solidFill>
              </a:rPr>
              <a:t>1 Full-Time Engineer for 3 weeks build; 0.2 FTE ongoing maintenance.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42255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AI &amp; Backend Engineer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Primary Responsibility: </a:t>
            </a:r>
            <a:r>
              <a:rPr sz="1100">
                <a:solidFill>
                  <a:srgbClr val="475569"/>
                </a:solidFill>
              </a:rPr>
              <a:t>Develop FastAPI REST endpoints, SQLite data access layer, and 5-stage AI logic.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Key Skills Required: </a:t>
            </a:r>
            <a:r>
              <a:rPr sz="1100">
                <a:solidFill>
                  <a:srgbClr val="475569"/>
                </a:solidFill>
              </a:rPr>
              <a:t>Python 3.10+, FastAPI, Pydantic, Gemini API, Pytest, Windows ctypes integration.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Effort Allocation: </a:t>
            </a:r>
            <a:r>
              <a:rPr sz="1100">
                <a:solidFill>
                  <a:srgbClr val="475569"/>
                </a:solidFill>
              </a:rPr>
              <a:t>1 Full-Time Engineer for 2.5 weeks build; 0.2 FTE ongoing maintenance.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Ergonomic UX Designer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Primary Responsibility: </a:t>
            </a:r>
            <a:r>
              <a:rPr sz="1100">
                <a:solidFill>
                  <a:srgbClr val="475569"/>
                </a:solidFill>
              </a:rPr>
              <a:t>Design science-backed activity steps, intuitive micro-break timers, and animations.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Key Skills Required: </a:t>
            </a:r>
            <a:r>
              <a:rPr sz="1100">
                <a:solidFill>
                  <a:srgbClr val="475569"/>
                </a:solidFill>
              </a:rPr>
              <a:t>Workplace ergonomics, behavioral science, Figma, UI/UX interaction design.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Effort Allocation: </a:t>
            </a:r>
            <a:r>
              <a:rPr sz="1100">
                <a:solidFill>
                  <a:srgbClr val="475569"/>
                </a:solidFill>
              </a:rPr>
              <a:t>0.5 FTE for 2 weeks design sprint.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242255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DevOps &amp; QA Specialist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Primary Responsibility: </a:t>
            </a:r>
            <a:r>
              <a:rPr sz="1100">
                <a:solidFill>
                  <a:srgbClr val="475569"/>
                </a:solidFill>
              </a:rPr>
              <a:t>Automate GitHub Actions CI/CD pipeline, run cross-browser tests, and verify security.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Key Skills Required: </a:t>
            </a:r>
            <a:r>
              <a:rPr sz="1100">
                <a:solidFill>
                  <a:srgbClr val="475569"/>
                </a:solidFill>
              </a:rPr>
              <a:t>GitHub Actions, Vercel deployments, Pytest test coverage, security audits.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Effort Allocation: </a:t>
            </a:r>
            <a:r>
              <a:rPr sz="1100">
                <a:solidFill>
                  <a:srgbClr val="475569"/>
                </a:solidFill>
              </a:rPr>
              <a:t>0.5 FTE for 1 week launch sprint.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DD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13D"/>
                </a:solidFill>
              </a:defRPr>
            </a:pPr>
            <a:r>
              <a:t>Solution Security, Privacy &amp; Ethical Guardrails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Designed from the foundation with a strict Zero-Surveillance and Privacy-First philosophy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1. Data Privacy &amp; Sovereignty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Zero Surveillance: </a:t>
            </a:r>
            <a:r>
              <a:rPr sz="1100">
                <a:solidFill>
                  <a:srgbClr val="475569"/>
                </a:solidFill>
              </a:rPr>
              <a:t>No keystroke logging, no screen capturing, no camera monitoring, and no microphone listening.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Employee Ownership: </a:t>
            </a:r>
            <a:r>
              <a:rPr sz="1100">
                <a:solidFill>
                  <a:srgbClr val="475569"/>
                </a:solidFill>
              </a:rPr>
              <a:t>Wellness logs and check-in metrics belong solely to the employee—never exported to employers.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Local Persistence: </a:t>
            </a:r>
            <a:r>
              <a:rPr sz="1100">
                <a:solidFill>
                  <a:srgbClr val="475569"/>
                </a:solidFill>
              </a:rPr>
              <a:t>All personal sessions and custom settings remain encrypted in local browser 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2. Content &amp; Health Guardrails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No Medical Claims: </a:t>
            </a:r>
            <a:r>
              <a:rPr sz="1100">
                <a:solidFill>
                  <a:srgbClr val="475569"/>
                </a:solidFill>
              </a:rPr>
              <a:t>System instructions explicitly prohibit diagnostic claims or prescriptive health advice.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Certified Exercises: </a:t>
            </a:r>
            <a:r>
              <a:rPr sz="1100">
                <a:solidFill>
                  <a:srgbClr val="475569"/>
                </a:solidFill>
              </a:rPr>
              <a:t>Restricted strictly to approved ergonomic stretch protocols (20-20-20, gentle desk yoga).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Structured LLM Output: </a:t>
            </a:r>
            <a:r>
              <a:rPr sz="1100">
                <a:solidFill>
                  <a:srgbClr val="475569"/>
                </a:solidFill>
              </a:rPr>
              <a:t>Enforces strict JSON schema validation to prevent model hallucinations or drift.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413455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3. Compliance &amp; Access Control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GDPR &amp; CCPA Compliant: </a:t>
            </a:r>
            <a:r>
              <a:rPr sz="1100">
                <a:solidFill>
                  <a:srgbClr val="475569"/>
                </a:solidFill>
              </a:rPr>
              <a:t>Provides 1-click JSON data export and permanent database deletion at any time.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Isolated User Schemas: </a:t>
            </a:r>
            <a:r>
              <a:rPr sz="1100">
                <a:solidFill>
                  <a:srgbClr val="475569"/>
                </a:solidFill>
              </a:rPr>
              <a:t>Foreign key constraints and parameterized SQL queries prevent SQL injection.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Quiet Hours Shield: </a:t>
            </a:r>
            <a:r>
              <a:rPr sz="1100">
                <a:solidFill>
                  <a:srgbClr val="475569"/>
                </a:solidFill>
              </a:rPr>
              <a:t>Guarantees no intrusion or notifications during scheduled lunch or focus blocks.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DD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13D"/>
                </a:solidFill>
              </a:defRPr>
            </a:pPr>
            <a:r>
              <a:t>Solution Reusability &amp; Cross-Industry Adaptability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A modular agentic framework easily customized across diverse enterprise verticals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Software &amp; IT Development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Marathon coding blocks, 20-20-20 eye strain relief, and wrist carpal tunnel mobility for developers.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Customer Support &amp; BPOs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Rapid 1-minute vocal relaxation, hydration pacing, and emotional de-escalation breathing between call queues.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Financial, Legal &amp; Consulting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Spinal posture alignment and micro-resets for analysts working in complex spreadsheets for 12+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Healthcare &amp; Telemedicine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Cognitive decompression and sensory resets for clinicians between consecutive virtual patient consultations.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DD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13D"/>
                </a:solidFill>
              </a:defRPr>
            </a:pPr>
            <a:r>
              <a:t>Inputs, Assumptions, Risks &amp; Mitigations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Transparent operational parameters ensuring safe, resilient enterprise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1. Required Inputs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Voluntary Check-Ins: </a:t>
            </a:r>
            <a:r>
              <a:rPr sz="1100">
                <a:solidFill>
                  <a:srgbClr val="475569"/>
                </a:solidFill>
              </a:rPr>
              <a:t>Self-reported energy, stress, and physical fatigue ratings on a 1-5 scale.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Session Duration: </a:t>
            </a:r>
            <a:r>
              <a:rPr sz="1100">
                <a:solidFill>
                  <a:srgbClr val="475569"/>
                </a:solidFill>
              </a:rPr>
              <a:t>Elapsed active work time tracked by unthrottled Web Worker timers.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Work Schedule: </a:t>
            </a:r>
            <a:r>
              <a:rPr sz="1100">
                <a:solidFill>
                  <a:srgbClr val="475569"/>
                </a:solidFill>
              </a:rPr>
              <a:t>Preferred start/end times and designated quiet lunch blocks.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Feedback Ratings: </a:t>
            </a:r>
            <a:r>
              <a:rPr sz="1100">
                <a:solidFill>
                  <a:srgbClr val="475569"/>
                </a:solidFill>
              </a:rPr>
              <a:t>1-click 'Helpful / Unhelpful' activity ratings feeding the AI learning loop.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2. Key Assumptions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Modern Browser: </a:t>
            </a:r>
            <a:r>
              <a:rPr sz="1100">
                <a:solidFill>
                  <a:srgbClr val="475569"/>
                </a:solidFill>
              </a:rPr>
              <a:t>User operates on an evergreen browser supporting Web Workers and Web Audio API.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Desk Accessibility: </a:t>
            </a:r>
            <a:r>
              <a:rPr sz="1100">
                <a:solidFill>
                  <a:srgbClr val="475569"/>
                </a:solidFill>
              </a:rPr>
              <a:t>User has sufficient freedom to perform 20s eye shifts and seated shoulder rolls.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Voluntary Engagement: </a:t>
            </a:r>
            <a:r>
              <a:rPr sz="1100">
                <a:solidFill>
                  <a:srgbClr val="475569"/>
                </a:solidFill>
              </a:rPr>
              <a:t>Employees engage willingly when convinced of zero employer surveillance.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Connectivity: </a:t>
            </a:r>
            <a:r>
              <a:rPr sz="1100">
                <a:solidFill>
                  <a:srgbClr val="475569"/>
                </a:solidFill>
              </a:rPr>
              <a:t>Core app runs 100% offline; cloud connection used for optional LLM chat.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413455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3. Risks &amp; Mitigations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Alert Fatigue Risk: </a:t>
            </a:r>
            <a:r>
              <a:rPr sz="1100">
                <a:solidFill>
                  <a:srgbClr val="475569"/>
                </a:solidFill>
              </a:rPr>
              <a:t>Mitigated by multi-action rotation, +5m/+10m snooze options, and custom reminder sliders.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Employee Mistrust: </a:t>
            </a:r>
            <a:r>
              <a:rPr sz="1100">
                <a:solidFill>
                  <a:srgbClr val="475569"/>
                </a:solidFill>
              </a:rPr>
              <a:t>Mitigated by transparent zero-surveillance architecture and local client data storage.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Cloud Outage Risk: </a:t>
            </a:r>
            <a:r>
              <a:rPr sz="1100">
                <a:solidFill>
                  <a:srgbClr val="475569"/>
                </a:solidFill>
              </a:rPr>
              <a:t>Mitigated by complete deterministic rule-based fallback running client-side.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Inconvenient Timing: </a:t>
            </a:r>
            <a:r>
              <a:rPr sz="1100">
                <a:solidFill>
                  <a:srgbClr val="475569"/>
                </a:solidFill>
              </a:rPr>
              <a:t>Mitigated by intelligent quiet hours guard and schedule-aware planning.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DD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13D"/>
                </a:solidFill>
              </a:defRPr>
            </a:pPr>
            <a:r>
              <a:t>2-Minute Video Walkthrough Script &amp; Demo Flow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Timestamped end-to-end demonstration showcasing all agent capabilities in 120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b="1" sz="1200">
                <a:solidFill>
                  <a:srgbClr val="0D9488"/>
                </a:solidFill>
              </a:rPr>
              <a:t>[0:00 - 0:25] </a:t>
            </a:r>
            <a:r>
              <a:rPr b="1" sz="1200">
                <a:solidFill>
                  <a:srgbClr val="14213D"/>
                </a:solidFill>
              </a:rPr>
              <a:t>1. Problem &amp; Dashboard: </a:t>
            </a:r>
            <a:r>
              <a:rPr sz="1100">
                <a:solidFill>
                  <a:srgbClr val="475569"/>
                </a:solidFill>
              </a:rPr>
              <a:t>Show Prajakta's profile, active screen-time counter, focus rhythm ring, and voluntary check-in 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33472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b="1" sz="1200">
                <a:solidFill>
                  <a:srgbClr val="0D9488"/>
                </a:solidFill>
              </a:rPr>
              <a:t>[0:25 - 0:50] </a:t>
            </a:r>
            <a:r>
              <a:rPr b="1" sz="1200">
                <a:solidFill>
                  <a:srgbClr val="14213D"/>
                </a:solidFill>
              </a:rPr>
              <a:t>2. Background Toast &amp; Audio: </a:t>
            </a:r>
            <a:r>
              <a:rPr sz="1100">
                <a:solidFill>
                  <a:srgbClr val="475569"/>
                </a:solidFill>
              </a:rPr>
              <a:t>Demonstrate background protection: continuous timer triggers native desktop alert with custom harmonic audio chime.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29584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b="1" sz="1200">
                <a:solidFill>
                  <a:srgbClr val="0D9488"/>
                </a:solidFill>
              </a:rPr>
              <a:t>[0:50 - 1:20] </a:t>
            </a:r>
            <a:r>
              <a:rPr b="1" sz="1200">
                <a:solidFill>
                  <a:srgbClr val="14213D"/>
                </a:solidFill>
              </a:rPr>
              <a:t>3. Interactive Guided Player: </a:t>
            </a:r>
            <a:r>
              <a:rPr sz="1100">
                <a:solidFill>
                  <a:srgbClr val="475569"/>
                </a:solidFill>
              </a:rPr>
              <a:t>Launch 20-20-20 EyeCare / Desk Yoga: step-by-step guidance, countdown timer, confetti celebration, and 1-click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25696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b="1" sz="1200">
                <a:solidFill>
                  <a:srgbClr val="0D9488"/>
                </a:solidFill>
              </a:rPr>
              <a:t>[1:20 - 1:45] </a:t>
            </a:r>
            <a:r>
              <a:rPr b="1" sz="1200">
                <a:solidFill>
                  <a:srgbClr val="14213D"/>
                </a:solidFill>
              </a:rPr>
              <a:t>4. Conversational AI Chatbot: </a:t>
            </a:r>
            <a:r>
              <a:rPr sz="1100">
                <a:solidFill>
                  <a:srgbClr val="475569"/>
                </a:solidFill>
              </a:rPr>
              <a:t>Type symptom prompt in 'Talk to VYBE'. Show real-time fatigue analysis, diagnosis explanation, and 1-click action launcher.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21808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b="1" sz="1200">
                <a:solidFill>
                  <a:srgbClr val="0D9488"/>
                </a:solidFill>
              </a:rPr>
              <a:t>[1:45 - 2:00] </a:t>
            </a:r>
            <a:r>
              <a:rPr b="1" sz="1200">
                <a:solidFill>
                  <a:srgbClr val="14213D"/>
                </a:solidFill>
              </a:rPr>
              <a:t>5. Analytics &amp; Live Links: </a:t>
            </a:r>
            <a:r>
              <a:rPr sz="1100">
                <a:solidFill>
                  <a:srgbClr val="475569"/>
                </a:solidFill>
              </a:rPr>
              <a:t>Display Recharts break trends, break planner schedule with quiet hours, and display live production URL.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DD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13D"/>
                </a:solidFill>
              </a:defRPr>
            </a:pPr>
            <a:r>
              <a:t>VYBE AI — Live Project Summary &amp; Submission Verification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All code, documentation, interactive web deployment, and assets are live and accessible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Live Production Deployment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Live Website URL: </a:t>
            </a:r>
            <a:r>
              <a:rPr sz="1100">
                <a:solidFill>
                  <a:srgbClr val="475569"/>
                </a:solidFill>
              </a:rPr>
              <a:t>https://vybe-ai-five.vercel.app/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Hosting Platform: </a:t>
            </a:r>
            <a:r>
              <a:rPr sz="1100">
                <a:solidFill>
                  <a:srgbClr val="475569"/>
                </a:solidFill>
              </a:rPr>
              <a:t>Vercel Global Serverless Edge CDN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Production Build: </a:t>
            </a:r>
            <a:r>
              <a:rPr sz="1100">
                <a:solidFill>
                  <a:srgbClr val="475569"/>
                </a:solidFill>
              </a:rPr>
              <a:t>React 18 + Vite + TypeScript (Clean compilation)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Active Profile: </a:t>
            </a:r>
            <a:r>
              <a:rPr sz="1100">
                <a:solidFill>
                  <a:srgbClr val="475569"/>
                </a:solidFill>
              </a:rPr>
              <a:t>Prajakta Yelure | Age: 25 | Software Engineer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Verification Status: </a:t>
            </a:r>
            <a:r>
              <a:rPr sz="1100">
                <a:solidFill>
                  <a:srgbClr val="475569"/>
                </a:solidFill>
              </a:rPr>
              <a:t>100% Operational with zero broken links or placeholders.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42255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4213D"/>
                </a:solidFill>
              </a:defRPr>
            </a:pPr>
            <a:r>
              <a:t>Open Source Codebase &amp; Verification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GitHub Repository: </a:t>
            </a:r>
            <a:r>
              <a:rPr sz="1100">
                <a:solidFill>
                  <a:srgbClr val="475569"/>
                </a:solidFill>
              </a:rPr>
              <a:t>https://github.com/53yelureprathemesh-bot/Vybe-AI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Branch: </a:t>
            </a:r>
            <a:r>
              <a:rPr sz="1100">
                <a:solidFill>
                  <a:srgbClr val="475569"/>
                </a:solidFill>
              </a:rPr>
              <a:t>main (Fully committed with 80+ files)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Automated Tests: </a:t>
            </a:r>
            <a:r>
              <a:rPr sz="1100">
                <a:solidFill>
                  <a:srgbClr val="475569"/>
                </a:solidFill>
              </a:rPr>
              <a:t>27 / 27 Pytest unit &amp; integration tests passing (100%)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Desktop Scripts: </a:t>
            </a:r>
            <a:r>
              <a:rPr sz="1100">
                <a:solidFill>
                  <a:srgbClr val="475569"/>
                </a:solidFill>
              </a:rPr>
              <a:t>start_background_monitor.bat / stop_background_monitor.bat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• Author &amp; Participant: </a:t>
            </a:r>
            <a:r>
              <a:rPr sz="1100">
                <a:solidFill>
                  <a:srgbClr val="475569"/>
                </a:solidFill>
              </a:rPr>
              <a:t>Prajakta Yelure (53yelureprathemesh@gmail.com)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